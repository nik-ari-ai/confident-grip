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1f23bb3f0b42d5" /><Relationship Type="http://schemas.openxmlformats.org/officeDocument/2006/relationships/extended-properties" Target="/docProps/app.xml" Id="Re6b4653e312042b7" /><Relationship Type="http://schemas.openxmlformats.org/officeDocument/2006/relationships/officeDocument" Target="/ppt/presentation.xml" Id="Rabfb71374ace4a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486430693340c3"/>
  </p:sldMasterIdLst>
  <p:notesMasterIdLst>
    <p:notesMasterId xmlns:r="http://schemas.openxmlformats.org/officeDocument/2006/relationships" r:id="R0709b79c3f5b4975"/>
  </p:notesMasterIdLst>
  <p:sldIdLst>
    <p:sldId xmlns:r="http://schemas.openxmlformats.org/officeDocument/2006/relationships" id="256" r:id="R7a55c5988c594c70"/>
    <p:sldId xmlns:r="http://schemas.openxmlformats.org/officeDocument/2006/relationships" id="257" r:id="R21fbb7d7f1a3470f"/>
    <p:sldId xmlns:r="http://schemas.openxmlformats.org/officeDocument/2006/relationships" id="258" r:id="R9f5c841de0044f34"/>
    <p:sldId xmlns:r="http://schemas.openxmlformats.org/officeDocument/2006/relationships" id="259" r:id="R5187ccf108de4b76"/>
    <p:sldId xmlns:r="http://schemas.openxmlformats.org/officeDocument/2006/relationships" id="260" r:id="R72c49f5a107d40ca"/>
    <p:sldId xmlns:r="http://schemas.openxmlformats.org/officeDocument/2006/relationships" id="261" r:id="Rcacf905f8d944901"/>
    <p:sldId xmlns:r="http://schemas.openxmlformats.org/officeDocument/2006/relationships" id="262" r:id="R5830468756824b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84382f8e6b491c" /><Relationship Type="http://schemas.openxmlformats.org/officeDocument/2006/relationships/slideMaster" Target="/ppt/slideMasters/slideMaster1.xml" Id="R46486430693340c3" /><Relationship Type="http://schemas.openxmlformats.org/officeDocument/2006/relationships/notesMaster" Target="/ppt/notesMasters/notesMaster1.xml" Id="R0709b79c3f5b4975" /><Relationship Type="http://schemas.openxmlformats.org/officeDocument/2006/relationships/presProps" Target="/ppt/presProps.xml" Id="R7c824ba94fd54ccf" /><Relationship Type="http://schemas.openxmlformats.org/officeDocument/2006/relationships/tableStyles" Target="/ppt/tableStyles.xml" Id="R5dfc3dece555482b" /><Relationship Type="http://schemas.openxmlformats.org/officeDocument/2006/relationships/slide" Target="/ppt/slides/slide1.xml" Id="R7a55c5988c594c70" /><Relationship Type="http://schemas.openxmlformats.org/officeDocument/2006/relationships/slide" Target="/ppt/slides/slide2.xml" Id="R21fbb7d7f1a3470f" /><Relationship Type="http://schemas.openxmlformats.org/officeDocument/2006/relationships/slide" Target="/ppt/slides/slide3.xml" Id="R9f5c841de0044f34" /><Relationship Type="http://schemas.openxmlformats.org/officeDocument/2006/relationships/slide" Target="/ppt/slides/slide4.xml" Id="R5187ccf108de4b76" /><Relationship Type="http://schemas.openxmlformats.org/officeDocument/2006/relationships/slide" Target="/ppt/slides/slide5.xml" Id="R72c49f5a107d40ca" /><Relationship Type="http://schemas.openxmlformats.org/officeDocument/2006/relationships/slide" Target="/ppt/slides/slide6.xml" Id="Rcacf905f8d944901" /><Relationship Type="http://schemas.openxmlformats.org/officeDocument/2006/relationships/slide" Target="/ppt/slides/slide7.xml" Id="R5830468756824b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4e95cfe3e147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953530f71440d6" /><Relationship Type="http://schemas.openxmlformats.org/officeDocument/2006/relationships/notesMaster" Target="/ppt/notesMasters/notesMaster1.xml" Id="R2de8cbc92feb46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26d425681e496d" /><Relationship Type="http://schemas.openxmlformats.org/officeDocument/2006/relationships/notesMaster" Target="/ppt/notesMasters/notesMaster1.xml" Id="R9813f486c0ed4e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60bc028d134cfc" /><Relationship Type="http://schemas.openxmlformats.org/officeDocument/2006/relationships/notesMaster" Target="/ppt/notesMasters/notesMaster1.xml" Id="R691df212758740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9b9088765c40e4" /><Relationship Type="http://schemas.openxmlformats.org/officeDocument/2006/relationships/notesMaster" Target="/ppt/notesMasters/notesMaster1.xml" Id="Re638474e3a0e44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a3cc25fa484cdd" /><Relationship Type="http://schemas.openxmlformats.org/officeDocument/2006/relationships/notesMaster" Target="/ppt/notesMasters/notesMaster1.xml" Id="R6ca451a3dc4447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16d21394ba4b15" /><Relationship Type="http://schemas.openxmlformats.org/officeDocument/2006/relationships/notesMaster" Target="/ppt/notesMasters/notesMaster1.xml" Id="R8026eb3b56e145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50cd467c614cb4" /><Relationship Type="http://schemas.openxmlformats.org/officeDocument/2006/relationships/notesMaster" Target="/ppt/notesMasters/notesMaster1.xml" Id="Ra3d9fb00e4884c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Концепция и первый программный эксперимент. Аппаратная кисть не подключалась. Источник задания: https://kids.sk.ru/skkidschallenge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Данные: https://ninapro.hevs.ch/instructions/DB2.html . Соответствие хватов: https://ninapro.hevs.ch/figures/SData_Movements.png . Использованы первые восемь каналов из двенадцати. Один участник без ампутации; результаты нельзя переносить на пациентов.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Блок-схема создана как редактируемые объекты. Фильтр 20–450 Гц и notch 50 Гц, шаг 10 мс. RMS + MAV, WL, ZC, SSC по восьми каналам. Проверка качества сигнала: постоянный канал и чрезмерный разброс. Привод обязан явно обрабатывать inhibit; молчание не равно остановке.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results/db2_s1/metrics.json. Данные: S1_E2_A1.mat. Калибровка sigmoid внутри обучающих повторений с GroupKFold(3). Нормировка обучается внутри каждого фолда. Тестовые переходы сохранены. Это не независимые пациенты или разные дни.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results/db2_s1/metrics.json и CSV. Порог SVM 0,5; три подтверждения. Параметры выбраны по валидации. Отказ не считается сменой хвата. Ошибочное переключение — изменение принятого класса на класс, не совпадающий с текущей меткой. Это программные события, а не число движений реального привода.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results/db2_s1/metrics.json. Измерения Python на macOS arm64, не STM32. Пропуски представлены отдельно. Длина окна 50 мс и шаг 10 мс сами по себе не доказывают задержку 100 мс. Исследование компромисса окна и задержки: https://pmc.ncbi.nlm.nih.gov/articles/PMC4241762/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Бюджет является собственной проектной оценкой, не котировками поставщиков. ADS1298: https://www.ti.com/product/ADS1298 . STM32H743: https://www.st.com/en/microcontrollers-microprocessors/stm32h743-753.html . Отказ от ненадёжных решений уже исследуется: https://arxiv.org/abs/2409.14169 . Новизна мирового уровня не заявляется.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e104f7bf544c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79644e6581482b" /><Relationship Type="http://schemas.openxmlformats.org/officeDocument/2006/relationships/slideLayout" Target="/ppt/slideLayouts/slideLayout1.xml" Id="R7ed2b979cda94a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d2b979cda94a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6e81e864a4e41" /><Relationship Type="http://schemas.openxmlformats.org/officeDocument/2006/relationships/notesSlide" Target="/ppt/notesSlides/notesSlide1.xml" Id="Rf59811bfebc045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3badc189948c7" /><Relationship Type="http://schemas.openxmlformats.org/officeDocument/2006/relationships/notesSlide" Target="/ppt/notesSlides/notesSlide2.xml" Id="R35cb2b52594f45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998e2336c4e4b" /><Relationship Type="http://schemas.openxmlformats.org/officeDocument/2006/relationships/notesSlide" Target="/ppt/notesSlides/notesSlide3.xml" Id="R2034eb8e851146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93adcfeeb48c1" /><Relationship Type="http://schemas.openxmlformats.org/officeDocument/2006/relationships/notesSlide" Target="/ppt/notesSlides/notesSlide4.xml" Id="Rce58a09c40d842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6db35d9cb484d" /><Relationship Type="http://schemas.openxmlformats.org/officeDocument/2006/relationships/notesSlide" Target="/ppt/notesSlides/notesSlide5.xml" Id="Rd277596f8ea949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0d10480674d9b" /><Relationship Type="http://schemas.openxmlformats.org/officeDocument/2006/relationships/notesSlide" Target="/ppt/notesSlides/notesSlide6.xml" Id="R8624fd723c7e42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c9095969241c3" /><Relationship Type="http://schemas.openxmlformats.org/officeDocument/2006/relationships/notesSlide" Target="/ppt/notesSlides/notesSlide7.xml" Id="R537c933f72dc4e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A2D3D-47EE-4831-9A3B-C1E7B029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853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8533A"/>
                </a:solidFill>
                <a:latin typeface="Arial"/>
                <a:ea typeface="Arial"/>
                <a:cs typeface="Arial"/>
              </a:rPr>
              <a:t>Уверенный хват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C139D-4349-4B61-BDB6-2B1C84C2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5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711FD-6CE9-42A9-A642-803FC0C2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Проверка команд при распознавании</a:t>
            </a:r>
          </a:p>
          <a:p xmlns:a="http://schemas.openxmlformats.org/drawingml/2006/main">
            <a:pPr>
              <a:defRPr sz="3300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хватов по поверхностной ЭМГ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2DA14-D4CF-4AB2-965C-632C1355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9635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9635B"/>
                </a:solidFill>
                <a:latin typeface="Arial"/>
                <a:ea typeface="Arial"/>
                <a:cs typeface="Arial"/>
              </a:rPr>
              <a:t>Пять хватов и покой. Первый опыт на реальных данных NinaPro.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98FF3-A325-4D0A-A6D5-901E9786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35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35B"/>
                </a:solidFill>
                <a:latin typeface="Arial"/>
                <a:ea typeface="Arial"/>
                <a:cs typeface="Arial"/>
              </a:rPr>
              <a:t>SK Challenge 2026 · студенческий кейс СТЕПЛАЙФ</a:t>
            </a:r>
          </a:p>
          <a:p xmlns:a="http://schemas.openxmlformats.org/drawingml/2006/main">
            <a:pPr>
              <a:defRPr sz="1725" b="0">
                <a:solidFill>
                  <a:srgbClr val="59635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35B"/>
                </a:solidFill>
                <a:latin typeface="Arial"/>
                <a:ea typeface="Arial"/>
                <a:cs typeface="Arial"/>
              </a:rPr>
              <a:t>25 сентября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1626334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3DD7B-BA9B-4E21-8BE6-9E9FA4D5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853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8533A"/>
                </a:solidFill>
                <a:latin typeface="Arial"/>
                <a:ea typeface="Arial"/>
                <a:cs typeface="Arial"/>
              </a:rPr>
              <a:t>Сигнал и выбранные хваты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43357-EB47-4C28-A94B-9BBD19CF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5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9728C-DBB8-4501-94DB-3AB0048D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04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2A25"/>
                </a:solidFill>
                <a:latin typeface="Arial"/>
                <a:ea typeface="Arial"/>
                <a:cs typeface="Arial"/>
              </a:rPr>
              <a:t>8 каналов предплечья · 2 кГц</a:t>
            </a:r>
          </a:p>
          <a:p xmlns:a="http://schemas.openxmlformats.org/drawingml/2006/main">
            <a:pPr>
              <a:defRPr sz="2175" b="1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2A25"/>
                </a:solidFill>
                <a:latin typeface="Arial"/>
                <a:ea typeface="Arial"/>
                <a:cs typeface="Arial"/>
              </a:rPr>
              <a:t>NinaPro DB2, участник S1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5F2B9-7F97-403B-93BC-EA2584FD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04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Манжета считывает активность</a:t>
            </a:r>
          </a:p>
          <a:p xmlns:a="http://schemas.openxmlformats.org/drawingml/2006/main">
            <a:pPr>
              <a:defRPr sz="2025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сохранившихся мышц. Размещение</a:t>
            </a:r>
          </a:p>
          <a:p xmlns:a="http://schemas.openxmlformats.org/drawingml/2006/main">
            <a:pPr>
              <a:defRPr sz="2025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для пользователя протеза потребуется</a:t>
            </a:r>
          </a:p>
          <a:p xmlns:a="http://schemas.openxmlformats.org/drawingml/2006/main">
            <a:pPr>
              <a:defRPr sz="2025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подбирать отдельно.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7AD1D-D74C-4E10-BE4A-8767C1C2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048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3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35B"/>
                </a:solidFill>
                <a:latin typeface="Arial"/>
                <a:ea typeface="Arial"/>
                <a:cs typeface="Arial"/>
              </a:rPr>
              <a:t>30 фрагментов: 5 хватов × 6 повторов.</a:t>
            </a:r>
          </a:p>
          <a:p xmlns:a="http://schemas.openxmlformats.org/drawingml/2006/main">
            <a:pPr>
              <a:defRPr sz="1875" b="0">
                <a:solidFill>
                  <a:srgbClr val="5963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35B"/>
                </a:solidFill>
                <a:latin typeface="Arial"/>
                <a:ea typeface="Arial"/>
                <a:cs typeface="Arial"/>
              </a:rPr>
              <a:t>До и после движения добавлено</a:t>
            </a:r>
          </a:p>
          <a:p xmlns:a="http://schemas.openxmlformats.org/drawingml/2006/main">
            <a:pPr>
              <a:defRPr sz="1875" b="0">
                <a:solidFill>
                  <a:srgbClr val="5963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35B"/>
                </a:solidFill>
                <a:latin typeface="Arial"/>
                <a:ea typeface="Arial"/>
                <a:cs typeface="Arial"/>
              </a:rPr>
              <a:t>до 0,5 секунды соседнего покоя.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191250" y="1257300"/>
          <a:ext xmlns:a="http://schemas.openxmlformats.org/drawingml/2006/main" cx="5381625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1857375"/>
              </a:tblGrid>
              <a:tr h="63953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8533A"/>
                          </a:solidFill>
                          <a:latin typeface="Arial"/>
                          <a:ea typeface="Arial"/>
                          <a:cs typeface="Arial"/>
                        </a:rPr>
                        <a:t>Хват</a:t>
                      </a:r>
                    </a:p>
                  </a:txBody>
                  <a:tcPr marL="133350" marR="114300" marT="95250" marB="95250">
                    <a:solidFill>
                      <a:srgbClr val="EC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8533A"/>
                          </a:solidFill>
                          <a:latin typeface="Arial"/>
                          <a:ea typeface="Arial"/>
                          <a:cs typeface="Arial"/>
                        </a:rPr>
                        <a:t>Метка DB2</a:t>
                      </a:r>
                    </a:p>
                  </a:txBody>
                  <a:tcPr marL="133350" marR="114300" marT="95250" marB="95250">
                    <a:solidFill>
                      <a:srgbClr val="ECF1EB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Цилиндрический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Точный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Боковой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Крюк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Сферический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27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Покой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1841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FEE3D4-36B9-4B8E-A174-A6F99EF6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853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8533A"/>
                </a:solidFill>
                <a:latin typeface="Arial"/>
                <a:ea typeface="Arial"/>
                <a:cs typeface="Arial"/>
              </a:rPr>
              <a:t>Обработка и проверка команды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01C16-3CD0-4326-83B8-EA556280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5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E2AB9-57F0-4C7A-86C0-B0F85971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952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533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D9DD9-6CD7-4748-8E02-A0A1443C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724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Электроды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519A4-C322-45C3-A5F9-27614742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7145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53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853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829AE-E433-423D-B404-95C5168A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476375"/>
            <a:ext cx="1952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533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CA677-5DD9-45FB-A236-1A95F2FB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600200"/>
            <a:ext cx="1724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Усилитель</a:t>
            </a:r>
          </a:p>
          <a:p xmlns:a="http://schemas.openxmlformats.org/drawingml/2006/main">
            <a:pPr>
              <a:defRPr sz="1875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и АЦП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9FCBF-083A-4765-9549-88DEF816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145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53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853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8B723-42B3-4DA8-8043-61B4534E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476375"/>
            <a:ext cx="1952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533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79832-A704-442B-B945-1850D5F3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00200"/>
            <a:ext cx="1724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Причинный</a:t>
            </a:r>
          </a:p>
          <a:p xmlns:a="http://schemas.openxmlformats.org/drawingml/2006/main">
            <a:pPr>
              <a:defRPr sz="1875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фильтр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E3AAA-CC1A-4B3B-AB36-A1C23EFD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7145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53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853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2C3FB-7BF2-403A-97FD-FC5FED60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476375"/>
            <a:ext cx="1952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53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A9AA1-D11D-41C0-82AE-BF411DF5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600200"/>
            <a:ext cx="1724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Окно</a:t>
            </a:r>
          </a:p>
          <a:p xmlns:a="http://schemas.openxmlformats.org/drawingml/2006/main">
            <a:pPr>
              <a:defRPr sz="1875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50 мс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71B9EC-0C6D-43FE-A17C-0BC1EB56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145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53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8533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9DCD1-C71E-4243-BBA3-4337CFB3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476375"/>
            <a:ext cx="1952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533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59270-6879-407E-A064-4AEA1FD5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00200"/>
            <a:ext cx="1724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Признаки</a:t>
            </a:r>
          </a:p>
          <a:p xmlns:a="http://schemas.openxmlformats.org/drawingml/2006/main">
            <a:pPr>
              <a:defRPr sz="1875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40 значений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62B42-6A2A-4B40-AC29-E894B21D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952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533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E922CC-10E7-49AB-BC48-ED40A9CD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724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Начало</a:t>
            </a:r>
          </a:p>
          <a:p xmlns:a="http://schemas.openxmlformats.org/drawingml/2006/main">
            <a:pPr>
              <a:defRPr sz="1875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движения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6387C0-E8A3-4548-88C4-D47C4651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2385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53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8533A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3023F8-76CE-46AF-9095-361F20F2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00375"/>
            <a:ext cx="1952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533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4DAB65-A2CE-411A-805D-1A9E3FE1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24200"/>
            <a:ext cx="1724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Контроллер</a:t>
            </a:r>
          </a:p>
          <a:p xmlns:a="http://schemas.openxmlformats.org/drawingml/2006/main">
            <a:pPr>
              <a:defRPr sz="1875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привода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38DC8A-9011-4516-9B07-715E2ED9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385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53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8533A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F2E914-0DF4-4ED3-A3C2-4157BC89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00375"/>
            <a:ext cx="1952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533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9636B1-B065-470C-9386-B1BBA613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24200"/>
            <a:ext cx="1724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Связь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19073E-C980-4C83-B0F9-CE1D72B1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2385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53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8533A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F433BF-EFB6-418A-BB7A-C78429F3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00375"/>
            <a:ext cx="1952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1EB"/>
          </a:solidFill>
          <a:ln xmlns:a="http://schemas.openxmlformats.org/drawingml/2006/main" w="14288">
            <a:solidFill>
              <a:srgbClr val="28533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34814C-7D1A-4730-9987-E2240722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124200"/>
            <a:ext cx="1724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Проверка</a:t>
            </a:r>
          </a:p>
          <a:p xmlns:a="http://schemas.openxmlformats.org/drawingml/2006/main">
            <a:pPr>
              <a:defRPr sz="1875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команды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9F3E51-60F6-40FD-9CBF-3465E99E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385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853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8533A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2D528F-6662-4DAB-8049-91E9C6C6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00375"/>
            <a:ext cx="1952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8533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3C6CE5-BD2C-455D-AF2F-B324408B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24200"/>
            <a:ext cx="1724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LDA / SVM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85263C-7619-4B01-A429-5EC9221E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41935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853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533A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EA7E16-4AB3-4578-B6C0-D558F52B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Порог уверенности + несколько совпадающих решений.</a:t>
            </a:r>
          </a:p>
          <a:p xmlns:a="http://schemas.openxmlformats.org/drawingml/2006/main">
            <a:pPr>
              <a:defRPr sz="2100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При плохом сигнале или отказе — запрет движения.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5A51F4-3EF5-486C-AE76-54D1F809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3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35B"/>
                </a:solidFill>
                <a:latin typeface="Arial"/>
                <a:ea typeface="Arial"/>
                <a:cs typeface="Arial"/>
              </a:rPr>
              <a:t>Реализован программный участок от цифрового сигнала до команды.</a:t>
            </a:r>
          </a:p>
          <a:p xmlns:a="http://schemas.openxmlformats.org/drawingml/2006/main">
            <a:pPr>
              <a:defRPr sz="1650" b="0">
                <a:solidFill>
                  <a:srgbClr val="5963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35B"/>
                </a:solidFill>
                <a:latin typeface="Arial"/>
                <a:ea typeface="Arial"/>
                <a:cs typeface="Arial"/>
              </a:rPr>
              <a:t>Съём, связь и привод пока остаются частью аппаратного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9280621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8F49F-AE6F-463F-8B88-E96FB8B9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853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8533A"/>
                </a:solidFill>
                <a:latin typeface="Arial"/>
                <a:ea typeface="Arial"/>
                <a:cs typeface="Arial"/>
              </a:rPr>
              <a:t>Как проведён эксперимент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6DD7A-524C-4119-816A-779E2A9D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5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A50E7-0752-4522-8ECA-3E8EC10D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Повторения 1, 3, 4 — обучение</a:t>
            </a:r>
          </a:p>
          <a:p xmlns:a="http://schemas.openxmlformats.org/drawingml/2006/main">
            <a:pPr>
              <a:defRPr sz="2250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Повторение 2 — настройка порога</a:t>
            </a:r>
          </a:p>
          <a:p xmlns:a="http://schemas.openxmlformats.org/drawingml/2006/main">
            <a:pPr>
              <a:defRPr sz="2250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Повторения 5, 6 — итоговый тест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3143250"/>
          <a:ext xmlns:a="http://schemas.openxmlformats.org/drawingml/2006/main" cx="10953750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76875"/>
                <a:gridCol w="2762250"/>
                <a:gridCol w="2714625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8533A"/>
                          </a:solidFill>
                          <a:latin typeface="Arial"/>
                          <a:ea typeface="Arial"/>
                          <a:cs typeface="Arial"/>
                        </a:rPr>
                        <a:t>Модель</a:t>
                      </a:r>
                    </a:p>
                  </a:txBody>
                  <a:tcPr marL="133350" marR="114300" marT="95250" marB="95250">
                    <a:solidFill>
                      <a:srgbClr val="EC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8533A"/>
                          </a:solidFill>
                          <a:latin typeface="Arial"/>
                          <a:ea typeface="Arial"/>
                          <a:cs typeface="Arial"/>
                        </a:rPr>
                        <a:t>Точность окон</a:t>
                      </a:r>
                    </a:p>
                  </a:txBody>
                  <a:tcPr marL="133350" marR="114300" marT="95250" marB="95250">
                    <a:solidFill>
                      <a:srgbClr val="EC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8533A"/>
                          </a:solidFill>
                          <a:latin typeface="Arial"/>
                          <a:ea typeface="Arial"/>
                          <a:cs typeface="Arial"/>
                        </a:rPr>
                        <a:t>Macro-F1</a:t>
                      </a:r>
                    </a:p>
                  </a:txBody>
                  <a:tcPr marL="133350" marR="114300" marT="95250" marB="95250">
                    <a:solidFill>
                      <a:srgbClr val="ECF1E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LDA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48,7%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0,432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55,4%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0,500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F3A61-4CB8-4D2B-938A-F4D797E8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35B"/>
                </a:solidFill>
                <a:latin typeface="Arial"/>
                <a:ea typeface="Arial"/>
                <a:cs typeface="Arial"/>
              </a:rPr>
              <a:t>Один человек, 10 тестовых движений, 4574 окна.</a:t>
            </a:r>
          </a:p>
          <a:p xmlns:a="http://schemas.openxmlformats.org/drawingml/2006/main">
            <a:pPr>
              <a:defRPr sz="1800" b="0">
                <a:solidFill>
                  <a:srgbClr val="5963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35B"/>
                </a:solidFill>
                <a:latin typeface="Arial"/>
                <a:ea typeface="Arial"/>
                <a:cs typeface="Arial"/>
              </a:rPr>
              <a:t>Пересекающиеся окна одного повтора остаются в одной части выборки.</a:t>
            </a:r>
          </a:p>
        </p:txBody>
      </p:sp>
    </p:spTree>
    <p:extLst>
      <p:ext uri="{BB962C8B-B14F-4D97-AF65-F5344CB8AC3E}">
        <p14:creationId xmlns:p14="http://schemas.microsoft.com/office/powerpoint/2010/main" val="12791891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12B5A-5D76-4FED-96E2-122CBFB3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853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8533A"/>
                </a:solidFill>
                <a:latin typeface="Arial"/>
                <a:ea typeface="Arial"/>
                <a:cs typeface="Arial"/>
              </a:rPr>
              <a:t>Проверка команд: результат SVM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55A91-603C-46D8-A381-91387C45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5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304925"/>
          <a:ext xmlns:a="http://schemas.openxmlformats.org/drawingml/2006/main" cx="1095375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2381250"/>
                <a:gridCol w="1857375"/>
                <a:gridCol w="3333750"/>
              </a:tblGrid>
              <a:tr h="6629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8533A"/>
                          </a:solidFill>
                          <a:latin typeface="Arial"/>
                          <a:ea typeface="Arial"/>
                          <a:cs typeface="Arial"/>
                        </a:rPr>
                        <a:t>Режим</a:t>
                      </a:r>
                    </a:p>
                  </a:txBody>
                  <a:tcPr marL="133350" marR="114300" marT="95250" marB="95250">
                    <a:solidFill>
                      <a:srgbClr val="EC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8533A"/>
                          </a:solidFill>
                          <a:latin typeface="Arial"/>
                          <a:ea typeface="Arial"/>
                          <a:cs typeface="Arial"/>
                        </a:rPr>
                        <a:t>Ошибочные</a:t>
                      </a:r>
                    </a:p>
                    <a:p>
                      <a:r>
                        <a:rPr sz="1725" b="1">
                          <a:solidFill>
                            <a:srgbClr val="28533A"/>
                          </a:solidFill>
                          <a:latin typeface="Arial"/>
                          <a:ea typeface="Arial"/>
                          <a:cs typeface="Arial"/>
                        </a:rPr>
                        <a:t>переключения</a:t>
                      </a:r>
                    </a:p>
                  </a:txBody>
                  <a:tcPr marL="133350" marR="114300" marT="95250" marB="95250">
                    <a:solidFill>
                      <a:srgbClr val="EC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8533A"/>
                          </a:solidFill>
                          <a:latin typeface="Arial"/>
                          <a:ea typeface="Arial"/>
                          <a:cs typeface="Arial"/>
                        </a:rPr>
                        <a:t>Отказы</a:t>
                      </a:r>
                    </a:p>
                  </a:txBody>
                  <a:tcPr marL="133350" marR="114300" marT="95250" marB="95250">
                    <a:solidFill>
                      <a:srgbClr val="EC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8533A"/>
                          </a:solidFill>
                          <a:latin typeface="Arial"/>
                          <a:ea typeface="Arial"/>
                          <a:cs typeface="Arial"/>
                        </a:rPr>
                        <a:t>Ошибки среди</a:t>
                      </a:r>
                    </a:p>
                    <a:p>
                      <a:r>
                        <a:rPr sz="1725" b="1">
                          <a:solidFill>
                            <a:srgbClr val="28533A"/>
                          </a:solidFill>
                          <a:latin typeface="Arial"/>
                          <a:ea typeface="Arial"/>
                          <a:cs typeface="Arial"/>
                        </a:rPr>
                        <a:t>выданных команд</a:t>
                      </a:r>
                    </a:p>
                  </a:txBody>
                  <a:tcPr marL="133350" marR="114300" marT="95250" marB="95250">
                    <a:solidFill>
                      <a:srgbClr val="ECF1EB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Без проверки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535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0,0%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44,6%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Только порог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118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47,1%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34,0%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Подтверждение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201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19,1%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39,7%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Оба условия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43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66,1%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24,4%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6FAF4-52F5-457B-80C1-B455AA7C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535 → 43 ошибочных переключения, но 66,1% решений отклонены.</a:t>
            </a:r>
          </a:p>
          <a:p xmlns:a="http://schemas.openxmlformats.org/drawingml/2006/main">
            <a:pPr>
              <a:defRPr sz="2100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В двух из десяти движений правильная команда не появилась.</a:t>
            </a:r>
          </a:p>
        </p:txBody>
      </p:sp>
    </p:spTree>
    <p:extLst>
      <p:ext uri="{BB962C8B-B14F-4D97-AF65-F5344CB8AC3E}">
        <p14:creationId xmlns:p14="http://schemas.microsoft.com/office/powerpoint/2010/main" val="8302378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5B431-197A-483A-B139-0B2DDFAD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853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8533A"/>
                </a:solidFill>
                <a:latin typeface="Arial"/>
                <a:ea typeface="Arial"/>
                <a:cs typeface="Arial"/>
              </a:rPr>
              <a:t>Требование 100 мс пока не достигнуто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83C44-9F36-4A10-9722-D5564B30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5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14450"/>
          <a:ext xmlns:a="http://schemas.openxmlformats.org/drawingml/2006/main" cx="1095375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0"/>
                <a:gridCol w="2571750"/>
                <a:gridCol w="2571750"/>
              </a:tblGrid>
              <a:tr h="63246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8533A"/>
                          </a:solidFill>
                          <a:latin typeface="Arial"/>
                          <a:ea typeface="Arial"/>
                          <a:cs typeface="Arial"/>
                        </a:rPr>
                        <a:t>Время первой правильной команды</a:t>
                      </a:r>
                    </a:p>
                  </a:txBody>
                  <a:tcPr marL="133350" marR="114300" marT="95250" marB="95250">
                    <a:solidFill>
                      <a:srgbClr val="EC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8533A"/>
                          </a:solidFill>
                          <a:latin typeface="Arial"/>
                          <a:ea typeface="Arial"/>
                          <a:cs typeface="Arial"/>
                        </a:rPr>
                        <a:t>Без проверки</a:t>
                      </a:r>
                    </a:p>
                  </a:txBody>
                  <a:tcPr marL="133350" marR="114300" marT="95250" marB="95250">
                    <a:solidFill>
                      <a:srgbClr val="EC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8533A"/>
                          </a:solidFill>
                          <a:latin typeface="Arial"/>
                          <a:ea typeface="Arial"/>
                          <a:cs typeface="Arial"/>
                        </a:rPr>
                        <a:t>С проверкой</a:t>
                      </a:r>
                    </a:p>
                  </a:txBody>
                  <a:tcPr marL="133350" marR="114300" marT="95250" marB="95250">
                    <a:solidFill>
                      <a:srgbClr val="ECF1EB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Медиана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175 мс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225 мс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95-й процентиль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671 мс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846 мс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Правильный ответ за 100 мс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4 из 10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3 из 10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Без правильной команды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0 из 10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2 из 10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CFAF4-7AB0-4894-8CA3-A914D8CC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Вычислительная итерация SVM: около 3,0 мс (95-й процентиль).</a:t>
            </a:r>
          </a:p>
          <a:p xmlns:a="http://schemas.openxmlformats.org/drawingml/2006/main">
            <a:pPr>
              <a:defRPr sz="1950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Основная задержка здесь — ожидание правильного решения.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25A07-2DCA-4F65-A724-E84F218F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63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35B"/>
                </a:solidFill>
                <a:latin typeface="Arial"/>
                <a:ea typeface="Arial"/>
                <a:cs typeface="Arial"/>
              </a:rPr>
              <a:t>Время отсчитано от метки записи. Связь и привод не измерялись.</a:t>
            </a:r>
          </a:p>
          <a:p xmlns:a="http://schemas.openxmlformats.org/drawingml/2006/main">
            <a:pPr>
              <a:defRPr sz="1500" b="0">
                <a:solidFill>
                  <a:srgbClr val="5963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35B"/>
                </a:solidFill>
                <a:latin typeface="Arial"/>
                <a:ea typeface="Arial"/>
                <a:cs typeface="Arial"/>
              </a:rPr>
              <a:t>Медиана и процентиль приведены только для успешных движений.</a:t>
            </a:r>
          </a:p>
        </p:txBody>
      </p:sp>
    </p:spTree>
    <p:extLst>
      <p:ext uri="{BB962C8B-B14F-4D97-AF65-F5344CB8AC3E}">
        <p14:creationId xmlns:p14="http://schemas.microsoft.com/office/powerpoint/2010/main" val="816074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61D29-DC48-42B7-AFE2-2FE2A14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853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8533A"/>
                </a:solidFill>
                <a:latin typeface="Arial"/>
                <a:ea typeface="Arial"/>
                <a:cs typeface="Arial"/>
              </a:rPr>
              <a:t>Что проверять дальше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5CAEB-B1CC-46BF-A0A8-3E697D9C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3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35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B5DF5-FD08-4EB1-9E58-C78C43F8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54292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Сначала — новые записи и другие</a:t>
            </a:r>
          </a:p>
          <a:p xmlns:a="http://schemas.openxmlformats.org/drawingml/2006/main">
            <a:pPr>
              <a:defRPr sz="2100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длины окон. Выбор параметров</a:t>
            </a:r>
          </a:p>
          <a:p xmlns:a="http://schemas.openxmlformats.org/drawingml/2006/main">
            <a:pPr>
              <a:defRPr sz="2100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с ограничением числа отказов.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Затем — персональная калибровка</a:t>
            </a:r>
          </a:p>
          <a:p xmlns:a="http://schemas.openxmlformats.org/drawingml/2006/main">
            <a:pPr>
              <a:defRPr sz="2100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и тест на другом визите.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После этого — перенос на плату</a:t>
            </a:r>
          </a:p>
          <a:p xmlns:a="http://schemas.openxmlformats.org/drawingml/2006/main">
            <a:pPr>
              <a:defRPr sz="2100" b="0">
                <a:solidFill>
                  <a:srgbClr val="232A2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2A25"/>
                </a:solidFill>
                <a:latin typeface="Arial"/>
                <a:ea typeface="Arial"/>
                <a:cs typeface="Arial"/>
              </a:rPr>
              <a:t>и измерение с настоящим приводом.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496050" y="1314450"/>
          <a:ext xmlns:a="http://schemas.openxmlformats.org/drawingml/2006/main" cx="5067300" cy="3962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48050"/>
                <a:gridCol w="1619250"/>
              </a:tblGrid>
              <a:tr h="56605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8533A"/>
                          </a:solidFill>
                          <a:latin typeface="Arial"/>
                          <a:ea typeface="Arial"/>
                          <a:cs typeface="Arial"/>
                        </a:rPr>
                        <a:t>Аппаратный стенд</a:t>
                      </a:r>
                    </a:p>
                  </a:txBody>
                  <a:tcPr marL="133350" marR="114300" marT="95250" marB="95250">
                    <a:solidFill>
                      <a:srgbClr val="EC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8533A"/>
                          </a:solidFill>
                          <a:latin typeface="Arial"/>
                          <a:ea typeface="Arial"/>
                          <a:cs typeface="Arial"/>
                        </a:rPr>
                        <a:t>План, руб.</a:t>
                      </a:r>
                    </a:p>
                  </a:txBody>
                  <a:tcPr marL="133350" marR="114300" marT="95250" marB="95250">
                    <a:solidFill>
                      <a:srgbClr val="ECF1EB"/>
                    </a:solidFill>
                  </a:tcPr>
                </a:tc>
              </a:tr>
              <a:tr h="566057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Съём и электроды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47 000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566057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Плата и интерфейсы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10 000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566057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Приводы и механика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65 000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566057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Питание и сборка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20 000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566057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Итерации и расходники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18 000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566057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Итого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2A25"/>
                          </a:solidFill>
                          <a:latin typeface="Arial"/>
                          <a:ea typeface="Arial"/>
                          <a:cs typeface="Arial"/>
                        </a:rPr>
                        <a:t>160 000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E5C5E-4186-4DED-8E0A-CBF02B68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3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35B"/>
                </a:solidFill>
                <a:latin typeface="Arial"/>
                <a:ea typeface="Arial"/>
                <a:cs typeface="Arial"/>
              </a:rPr>
              <a:t>3–6 месяцев на аппаратную версию. Сумма — плановый бюджет,</a:t>
            </a:r>
          </a:p>
          <a:p xmlns:a="http://schemas.openxmlformats.org/drawingml/2006/main">
            <a:pPr>
              <a:defRPr sz="1650" b="0">
                <a:solidFill>
                  <a:srgbClr val="5963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35B"/>
                </a:solidFill>
                <a:latin typeface="Arial"/>
                <a:ea typeface="Arial"/>
                <a:cs typeface="Arial"/>
              </a:rPr>
              <a:t>без зарплаты и клинического исследования; цены требуют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2729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2026-09-25T09:41:14.4750000Z</dcterms:created>
  <dcterms:modified xsi:type="dcterms:W3CDTF">2026-09-25T09:41:14.4750000Z</dcterms:modified>
</coreProperties>
</file>