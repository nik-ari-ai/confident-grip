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486eac71d74a81" /><Relationship Type="http://schemas.openxmlformats.org/officeDocument/2006/relationships/extended-properties" Target="/docProps/app.xml" Id="R03a17ab8547f48dc" /><Relationship Type="http://schemas.openxmlformats.org/officeDocument/2006/relationships/officeDocument" Target="/ppt/presentation.xml" Id="R3a1ebb2521aa4b8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fdd201ff704365"/>
  </p:sldMasterIdLst>
  <p:notesMasterIdLst>
    <p:notesMasterId xmlns:r="http://schemas.openxmlformats.org/officeDocument/2006/relationships" r:id="Ra3a6f4d71ef440eb"/>
  </p:notesMasterIdLst>
  <p:sldIdLst>
    <p:sldId xmlns:r="http://schemas.openxmlformats.org/officeDocument/2006/relationships" id="256" r:id="Rba1fb74678734ffb"/>
    <p:sldId xmlns:r="http://schemas.openxmlformats.org/officeDocument/2006/relationships" id="257" r:id="Ra484f25ed4294b81"/>
    <p:sldId xmlns:r="http://schemas.openxmlformats.org/officeDocument/2006/relationships" id="258" r:id="Re11ee7c5bcca4c76"/>
    <p:sldId xmlns:r="http://schemas.openxmlformats.org/officeDocument/2006/relationships" id="259" r:id="R6af774eb01154b88"/>
    <p:sldId xmlns:r="http://schemas.openxmlformats.org/officeDocument/2006/relationships" id="260" r:id="Rb1af8218a8ec4c18"/>
    <p:sldId xmlns:r="http://schemas.openxmlformats.org/officeDocument/2006/relationships" id="261" r:id="R7be79585531149d6"/>
    <p:sldId xmlns:r="http://schemas.openxmlformats.org/officeDocument/2006/relationships" id="262" r:id="Rfeadd92420984ad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19a56f3ce34359" /><Relationship Type="http://schemas.openxmlformats.org/officeDocument/2006/relationships/slideMaster" Target="/ppt/slideMasters/slideMaster1.xml" Id="R84fdd201ff704365" /><Relationship Type="http://schemas.openxmlformats.org/officeDocument/2006/relationships/notesMaster" Target="/ppt/notesMasters/notesMaster1.xml" Id="Ra3a6f4d71ef440eb" /><Relationship Type="http://schemas.openxmlformats.org/officeDocument/2006/relationships/presProps" Target="/ppt/presProps.xml" Id="Ree59b64f3058419b" /><Relationship Type="http://schemas.openxmlformats.org/officeDocument/2006/relationships/tableStyles" Target="/ppt/tableStyles.xml" Id="Rbe9ccd7e62c4441c" /><Relationship Type="http://schemas.openxmlformats.org/officeDocument/2006/relationships/slide" Target="/ppt/slides/slide1.xml" Id="Rba1fb74678734ffb" /><Relationship Type="http://schemas.openxmlformats.org/officeDocument/2006/relationships/slide" Target="/ppt/slides/slide2.xml" Id="Ra484f25ed4294b81" /><Relationship Type="http://schemas.openxmlformats.org/officeDocument/2006/relationships/slide" Target="/ppt/slides/slide3.xml" Id="Re11ee7c5bcca4c76" /><Relationship Type="http://schemas.openxmlformats.org/officeDocument/2006/relationships/slide" Target="/ppt/slides/slide4.xml" Id="R6af774eb01154b88" /><Relationship Type="http://schemas.openxmlformats.org/officeDocument/2006/relationships/slide" Target="/ppt/slides/slide5.xml" Id="Rb1af8218a8ec4c18" /><Relationship Type="http://schemas.openxmlformats.org/officeDocument/2006/relationships/slide" Target="/ppt/slides/slide6.xml" Id="R7be79585531149d6" /><Relationship Type="http://schemas.openxmlformats.org/officeDocument/2006/relationships/slide" Target="/ppt/slides/slide7.xml" Id="Rfeadd92420984ad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2903b493824d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aa9378817e45ab" /><Relationship Type="http://schemas.openxmlformats.org/officeDocument/2006/relationships/notesMaster" Target="/ppt/notesMasters/notesMaster1.xml" Id="Rd8a4937b7d6f4a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2cdba2ed4c4472" /><Relationship Type="http://schemas.openxmlformats.org/officeDocument/2006/relationships/notesMaster" Target="/ppt/notesMasters/notesMaster1.xml" Id="R10aad34245cf48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9d210ad2994c87" /><Relationship Type="http://schemas.openxmlformats.org/officeDocument/2006/relationships/notesMaster" Target="/ppt/notesMasters/notesMaster1.xml" Id="Rcef6c19ba5fc4cc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fdb60c60284fef" /><Relationship Type="http://schemas.openxmlformats.org/officeDocument/2006/relationships/notesMaster" Target="/ppt/notesMasters/notesMaster1.xml" Id="R091c60567a7a42d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3fdc664ac34de4" /><Relationship Type="http://schemas.openxmlformats.org/officeDocument/2006/relationships/notesMaster" Target="/ppt/notesMasters/notesMaster1.xml" Id="Rffe7a329fae242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5e748378534c25" /><Relationship Type="http://schemas.openxmlformats.org/officeDocument/2006/relationships/notesMaster" Target="/ppt/notesMasters/notesMaster1.xml" Id="R89c3ef49d7aa40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5f43bc26d864bf4" /><Relationship Type="http://schemas.openxmlformats.org/officeDocument/2006/relationships/notesMaster" Target="/ppt/notesMasters/notesMaster1.xml" Id="Rb26eeafd942647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Проверяется компромисс ошибок, отказов и задержки. Это программный прототип; кисть не подключена. Ограничение полной реакции 100 мс пока не подтверждено.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данных: https://ninapro.hevs.ch/instructions/DB2.html ; таблица движений: https://ninapro.hevs.ch/figures/SData_Movements.png . Первые восемь каналов. Все участники без ампутации. На каждого приходится 30 выбранных фрагментов: пять движений по шесть повторов. Включено до 0,5 с соседнего покоя.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Реализован участок от цифрового сигнала до команды. Фильтр 20–450 Гц и notch 50 Гц, только прошлые отсчёты. RMS, MAV, WL, ZC, SSC. В SVM — логарифмирование, окно 100 мс; LDA — исходные признаки, окно 150 мс. Оценки калибруются внутри train по повторам. Покой не означает раскрытие кисти.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Протокол и конфигурации: коммит fe22ce7, docs/protocol-v2.md. Выбирается macro-F1 на валидации S1. Окна 50,75,100,150 мс; td/log_td; LDA и SVM C=1/10. Сравнение старой и новой версии на совпадающих временных точках: results/study/paired_comparison.json. Вклад отдельных правок не изолирован.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Для S2 выбраны три подтверждения без порога. S3: threshold=0.5, margin=0.15, confirmations=2. Валидационное покрытие S3 70,96%, тестовое 67,84%. На обоих участниках получена правильная команда в каждом из десяти движений, но ранний правильный кадр не равен устойчивому управлению. Ошибочное переключение — смена принятого класса на неверный.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Отсчёт по restimulus, не по независимому измерению сокращения. Нулевая медиана первого ответа S2 не является мгновенной физической реакцией. Сбор информативного участка 40 + шаг10 + задержка тракта5 + признаки1 + модель3 + подтверждение10 + связь3 + движение20 =92 мс. Это лимиты проектирования, не измеренные показатели. Выбранные окна 100/150 мс не подтверждают выполнение ТЗ. Подробнее: отчёт, страницы 5–6.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Съём ADS1298, вычислитель STM32H743: https://www.ti.com/product/ADS1298 ; https://www.st.com/en/microcontrollers-microprocessors/stm32h743-753.html . Резерв до 200000 руб. —40000. Нужна лаборатория; зарплата и клинические испытания не включены. docs/demo.html воспроизводит сохранённые результаты; не запускает модель и не управляет кистью. Само отклонение решений не заявляется новой идеей: https://arxiv.org/abs/2409.14169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e0173730204c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7f906d099d4210" /><Relationship Type="http://schemas.openxmlformats.org/officeDocument/2006/relationships/slideLayout" Target="/ppt/slideLayouts/slideLayout1.xml" Id="Re32a0fd918524ce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2a0fd918524ce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c70f0f92874796" /><Relationship Type="http://schemas.openxmlformats.org/officeDocument/2006/relationships/notesSlide" Target="/ppt/notesSlides/notesSlide1.xml" Id="R109e0612edb64d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d20c04c7c84d3a" /><Relationship Type="http://schemas.openxmlformats.org/officeDocument/2006/relationships/notesSlide" Target="/ppt/notesSlides/notesSlide2.xml" Id="Rb5bcb782d62042b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32a6f69fe74f85" /><Relationship Type="http://schemas.openxmlformats.org/officeDocument/2006/relationships/notesSlide" Target="/ppt/notesSlides/notesSlide3.xml" Id="R8cad2d4fd2f744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cd5953715f4f63" /><Relationship Type="http://schemas.openxmlformats.org/officeDocument/2006/relationships/notesSlide" Target="/ppt/notesSlides/notesSlide4.xml" Id="R71b0232fc87544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8571c7fe8b4308" /><Relationship Type="http://schemas.openxmlformats.org/officeDocument/2006/relationships/notesSlide" Target="/ppt/notesSlides/notesSlide5.xml" Id="R257a5a915cf9456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8c276f802640d4" /><Relationship Type="http://schemas.openxmlformats.org/officeDocument/2006/relationships/notesSlide" Target="/ppt/notesSlides/notesSlide6.xml" Id="R3e59703f67304e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a6ee40e3ec4a7c" /><Relationship Type="http://schemas.openxmlformats.org/officeDocument/2006/relationships/notesSlide" Target="/ppt/notesSlides/notesSlide7.xml" Id="Rb7942093750344e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D92C3E-7B5E-4E59-936F-74EACBB4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8533A"/>
                </a:solidFill>
                <a:latin typeface="Arial"/>
                <a:ea typeface="Arial"/>
                <a:cs typeface="Arial"/>
              </a:rPr>
              <a:t>Уверенный хват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4D6E9E-A41A-44C5-808F-16EAA7E0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96FE3A-2C8C-4182-ACF3-F46B432B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572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232A25"/>
                </a:solidFill>
                <a:latin typeface="Arial"/>
                <a:ea typeface="Arial"/>
                <a:cs typeface="Arial"/>
              </a:rPr>
              <a:t>Как не менять хват</a:t>
            </a:r>
          </a:p>
          <a:p xmlns:a="http://schemas.openxmlformats.org/drawingml/2006/main">
            <a:pPr>
              <a:defRPr sz="3525" b="1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232A25"/>
                </a:solidFill>
                <a:latin typeface="Arial"/>
                <a:ea typeface="Arial"/>
                <a:cs typeface="Arial"/>
              </a:rPr>
              <a:t>из-за сомнительной команды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5F7EDB-7104-4283-93B8-85272573D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Пять хватов и покой по поверхностной ЭМГ.</a:t>
            </a:r>
          </a:p>
          <a:p xmlns:a="http://schemas.openxmlformats.org/drawingml/2006/main">
            <a:pPr>
              <a:defRPr sz="2250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Программный прототип и проверка на новых записях.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725A8-FCEF-482A-818A-A888D86F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SK Challenge 2026 · студенческий кейс СТЕПЛАЙФ</a:t>
            </a:r>
          </a:p>
          <a:p xmlns:a="http://schemas.openxmlformats.org/drawingml/2006/main">
            <a:pPr>
              <a:defRPr sz="1800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25 сентября 2026</a:t>
            </a:r>
          </a:p>
        </p:txBody>
      </p:sp>
    </p:spTree>
    <p:extLst>
      <p:ext uri="{BB962C8B-B14F-4D97-AF65-F5344CB8AC3E}">
        <p14:creationId xmlns:p14="http://schemas.microsoft.com/office/powerpoint/2010/main" val="2091103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6B22CE-03B2-4FBD-867F-4FBA74BE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8533A"/>
                </a:solidFill>
                <a:latin typeface="Arial"/>
                <a:ea typeface="Arial"/>
                <a:cs typeface="Arial"/>
              </a:rPr>
              <a:t>Что считываем и как проверяем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D90D25-105E-4030-9922-A465BCF8B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057DD1-65C7-48FF-B525-94BC2928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50958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32A25"/>
                </a:solidFill>
                <a:latin typeface="Arial"/>
                <a:ea typeface="Arial"/>
                <a:cs typeface="Arial"/>
              </a:rPr>
              <a:t>8 каналов предплечья · 2 кГц</a:t>
            </a:r>
          </a:p>
          <a:p xmlns:a="http://schemas.openxmlformats.org/drawingml/2006/main">
            <a:pPr>
              <a:defRPr sz="2400" b="1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32A25"/>
                </a:solidFill>
                <a:latin typeface="Arial"/>
                <a:ea typeface="Arial"/>
                <a:cs typeface="Arial"/>
              </a:rPr>
              <a:t>NinaPro DB2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BBA4C4-4025-4264-8993-510C18A27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509587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S1 — выбор признаков и окна.</a:t>
            </a:r>
          </a:p>
          <a:p xmlns:a="http://schemas.openxmlformats.org/drawingml/2006/main">
            <a:pPr>
              <a:defRPr sz="21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S2 и S3 — новые участники</a:t>
            </a:r>
          </a:p>
          <a:p xmlns:a="http://schemas.openxmlformats.org/drawingml/2006/main">
            <a:pPr>
              <a:defRPr sz="21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для проверки процедуры.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BB0951-6D4B-49D9-81F9-A95BA0B88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51911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У каждого своя настройка:</a:t>
            </a:r>
          </a:p>
          <a:p xmlns:a="http://schemas.openxmlformats.org/drawingml/2006/main">
            <a:pPr>
              <a:defRPr sz="18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train 1, 3, 4 · validation 2 · test 5, 6.</a:t>
            </a:r>
          </a:p>
          <a:p xmlns:a="http://schemas.openxmlformats.org/drawingml/2006/main">
            <a:pPr>
              <a:defRPr sz="18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Это не перенос модели между людьми.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191250" y="1343025"/>
          <a:ext xmlns:a="http://schemas.openxmlformats.org/drawingml/2006/main" cx="5381625" cy="4352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24250"/>
                <a:gridCol w="1857375"/>
              </a:tblGrid>
              <a:tr h="621846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Хват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Метка DB2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</a:tr>
              <a:tr h="621846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Цилиндрический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21846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Точный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21846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Боковой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34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21846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Крюк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21846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Сферический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27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21846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Покой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00404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85425A-8E3E-4298-A0CB-C6D01C58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8533A"/>
                </a:solidFill>
                <a:latin typeface="Arial"/>
                <a:ea typeface="Arial"/>
                <a:cs typeface="Arial"/>
              </a:rPr>
              <a:t>Обработка и проверка команды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BDFFDE-6155-40AA-B0F4-4E31BE6C3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87B61D-52C0-44DE-8A69-7EA223482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8756F6-A8CE-4E8E-A82F-3C6F0690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Электроды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7C75B4-296E-458E-87D6-E6C24BAC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714500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8533A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590C84-4FB0-44EF-9816-C7B719E7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1476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DDC3D1-46D7-4884-850D-EC3061829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1600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Усилитель</a:t>
            </a:r>
          </a:p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и АЦП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E0787D-3CE2-4F67-AF5F-B785B04B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714500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8533A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D8F075-935A-42AA-88EB-4C4093BB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476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D35688-9D1D-4F81-B0AE-1B02DEEA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600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Причинный</a:t>
            </a:r>
          </a:p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фильтр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1E8ED5-CE61-48A0-8EC5-B9C8CF82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714500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8533A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610F0E-B8EE-4F01-AC7E-E335FF09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476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2BF249-85C1-4200-8D0A-7D003310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600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Окно</a:t>
            </a:r>
          </a:p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100/150 мс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65875E-AA3E-4DA5-BB85-1F2065FB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14500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8533A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6BA727-CFA1-4FB8-9BD8-0AE93001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476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53E688-5E9C-437F-A1DF-BDFEB6087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600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Признаки</a:t>
            </a:r>
          </a:p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40 значений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DE6B17-272B-4DAB-BF3E-EC9616A8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F03775-A298-4D6F-9E84-FBD8038B5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24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Начало</a:t>
            </a:r>
          </a:p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движения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328DD9-33CC-434D-AAFD-AD81BC33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238500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8533A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28450A-8522-4B06-8458-396A8436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000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ADBEF5-0745-4232-8154-AABF7AFBC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124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Контроллер</a:t>
            </a:r>
          </a:p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привода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BABB09-3632-4698-A6CB-4AC1F0A5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38500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8533A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06729B-21C3-44D1-9194-BBB94B2A8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000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7EF28E-1B22-4A21-B91F-ED41D560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24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Связь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5995BA-8593-4E34-B8B0-316DAC06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238500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8533A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6CC8C7-FF96-4636-B147-28B7BCB1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000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EB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C7B793-D521-4948-B3D9-2ED744F45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24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Проверка</a:t>
            </a:r>
          </a:p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команды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14D036-FF08-4BFB-85CA-F7C7F2B1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238500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8533A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B2FCC3-B1BF-47EA-BE85-E4FDDC2A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000375"/>
            <a:ext cx="1952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8533A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1E932E-1EAE-48AC-BA27-C0DB75ED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1242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LDA / SVM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AC8DD4-7525-42DF-BFBC-54602560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2419350"/>
            <a:ext cx="47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533A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CD19A3-B9D7-472E-ACAE-8734AA11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10953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Оценка модели + разница двух лучших оценок + подтверждение.</a:t>
            </a:r>
          </a:p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Плохой сигнал или отказ → запрет движения.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DD9906-01EB-4898-96DC-77E66FF3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Проверка не исправляет уверенный неправильный ответ.</a:t>
            </a:r>
          </a:p>
          <a:p xmlns:a="http://schemas.openxmlformats.org/drawingml/2006/main">
            <a:pPr>
              <a:defRPr sz="172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На приводе нужен независимый таймер отсутствия команд.</a:t>
            </a:r>
          </a:p>
        </p:txBody>
      </p:sp>
    </p:spTree>
    <p:extLst>
      <p:ext uri="{BB962C8B-B14F-4D97-AF65-F5344CB8AC3E}">
        <p14:creationId xmlns:p14="http://schemas.microsoft.com/office/powerpoint/2010/main" val="11837341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D34913-950A-483C-9808-1A0DE8D71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8533A"/>
                </a:solidFill>
                <a:latin typeface="Arial"/>
                <a:ea typeface="Arial"/>
                <a:cs typeface="Arial"/>
              </a:rPr>
              <a:t>Две модели, два новых участника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62354-2FA7-4A5F-BAD1-9C1772523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4143375"/>
                <a:gridCol w="4143375"/>
              </a:tblGrid>
              <a:tr h="7588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Модель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S2: точность / F1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S3: точность / F1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</a:tr>
              <a:tr h="7588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LDA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57,4% / 0.534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47,7% / 0.451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7588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SVM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65,2% / 0.602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57,7% / 0.541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D09E43-2108-441C-B386-2EEDAB50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На S1 сравнены 24 конфигурации. Выбор закреплён до теста.</a:t>
            </a:r>
          </a:p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LDA: обычные признаки, 150 мс. SVM: логарифмы, 100 мс.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E0E966-F35A-4935-976E-0E742B2B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8533A"/>
                </a:solidFill>
                <a:latin typeface="Arial"/>
                <a:ea typeface="Arial"/>
                <a:cs typeface="Arial"/>
              </a:rPr>
              <a:t>SVM на одинаковых временных точках, старая → новая версия:</a:t>
            </a:r>
          </a:p>
          <a:p xmlns:a="http://schemas.openxmlformats.org/drawingml/2006/main">
            <a:pPr>
              <a:defRPr sz="2025" b="1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8533A"/>
                </a:solidFill>
                <a:latin typeface="Arial"/>
                <a:ea typeface="Arial"/>
                <a:cs typeface="Arial"/>
              </a:rPr>
              <a:t>S2: 61,7 → 65,2%     S3: 52,0 → 57,7%</a:t>
            </a:r>
          </a:p>
        </p:txBody>
      </p:sp>
    </p:spTree>
    <p:extLst>
      <p:ext uri="{BB962C8B-B14F-4D97-AF65-F5344CB8AC3E}">
        <p14:creationId xmlns:p14="http://schemas.microsoft.com/office/powerpoint/2010/main" val="5824433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6AEB53-938A-4121-969E-A9DF4BEC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8533A"/>
                </a:solidFill>
                <a:latin typeface="Arial"/>
                <a:ea typeface="Arial"/>
                <a:cs typeface="Arial"/>
              </a:rPr>
              <a:t>Меньше переключений — какой ценой?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C6F277-EB06-4350-A110-55A38800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333500"/>
          <a:ext xmlns:a="http://schemas.openxmlformats.org/drawingml/2006/main" cx="1095375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286500"/>
                <a:gridCol w="2333625"/>
                <a:gridCol w="2333625"/>
              </a:tblGrid>
              <a:tr h="647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SVM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S2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S3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Ошибочные переключения/мин: до → после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482 → 178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546 → 175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Принято после проверки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86,5%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67,8%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Ошибки среди принятых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29,3%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32,0%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Полнота распознавания покоя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14,7%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15,9%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170684-11AD-4590-9214-E5B4F975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953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Режим выбирался при ≥70% принятых окон на валидации.</a:t>
            </a:r>
          </a:p>
          <a:p xmlns:a="http://schemas.openxmlformats.org/drawingml/2006/main">
            <a:pPr>
              <a:defRPr sz="202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На тесте S3 покрытие упало ниже этого ограничения.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352727-A2ED-4365-8F02-C5548CC0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9122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Слабое место — распознавание покоя. Для настоящей кисти ошибок слишком много.</a:t>
            </a:r>
          </a:p>
        </p:txBody>
      </p:sp>
    </p:spTree>
    <p:extLst>
      <p:ext uri="{BB962C8B-B14F-4D97-AF65-F5344CB8AC3E}">
        <p14:creationId xmlns:p14="http://schemas.microsoft.com/office/powerpoint/2010/main" val="17062269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BD4130-D88B-439C-B4E5-2D134CC3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8533A"/>
                </a:solidFill>
                <a:latin typeface="Arial"/>
                <a:ea typeface="Arial"/>
                <a:cs typeface="Arial"/>
              </a:rPr>
              <a:t>Вычисления быстрые. Ответ пока нестабилен.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9984DC-88A0-4CC3-945B-04DC916B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362075"/>
          <a:ext xmlns:a="http://schemas.openxmlformats.org/drawingml/2006/main" cx="10953750" cy="2686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286500"/>
                <a:gridCol w="2333625"/>
                <a:gridCol w="2333625"/>
              </a:tblGrid>
              <a:tr h="6715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SVM после проверки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S2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S3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</a:tr>
              <a:tr h="671513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Вычислительная итерация, p95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1,16 мс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1,29 мс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71513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Первая правильная команда за 100 мс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6 из 10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6 из 10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671513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Медиана устойчивого ответа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375 мс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980 мс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E2D330-2C9D-4601-A659-0E419D56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5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Устойчивый ответ: закончились 100 мс подряд правильных команд.</a:t>
            </a:r>
          </a:p>
          <a:p xmlns:a="http://schemas.openxmlformats.org/drawingml/2006/main">
            <a:pPr>
              <a:defRPr sz="2025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Полная задержка до движения кисти не измерена.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36139B-D7AC-4AE7-B7EC-14B87F93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91175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Для следующего стенда: проектный бюджет 92 мс + 8 мс резерва.</a:t>
            </a:r>
          </a:p>
          <a:p xmlns:a="http://schemas.openxmlformats.org/drawingml/2006/main">
            <a:pPr>
              <a:defRPr sz="18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Он требует нового варианта с окном 40 мс и проверки качества.</a:t>
            </a:r>
          </a:p>
        </p:txBody>
      </p:sp>
    </p:spTree>
    <p:extLst>
      <p:ext uri="{BB962C8B-B14F-4D97-AF65-F5344CB8AC3E}">
        <p14:creationId xmlns:p14="http://schemas.microsoft.com/office/powerpoint/2010/main" val="187764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8311E3-5642-4C1C-A5B0-47BC85413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853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8533A"/>
                </a:solidFill>
                <a:latin typeface="Arial"/>
                <a:ea typeface="Arial"/>
                <a:cs typeface="Arial"/>
              </a:rPr>
              <a:t>Что нужно для аппаратной версии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4D6F16-A3D1-40AA-A55E-838468A7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AC7EA3-7AF1-404D-AFCB-B00EA9FE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5524500" cy="3552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Сначала: покой и короткие окна</a:t>
            </a:r>
          </a:p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на новом отложенном тесте.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Затем: съём, калибровка, плата</a:t>
            </a:r>
          </a:p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и проверка с приводом.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План данных: 8–12 пользователей,</a:t>
            </a:r>
          </a:p>
          <a:p xmlns:a="http://schemas.openxmlformats.org/drawingml/2006/main">
            <a:pPr>
              <a:defRPr sz="2100" b="0">
                <a:solidFill>
                  <a:srgbClr val="232A2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32A25"/>
                </a:solidFill>
                <a:latin typeface="Arial"/>
                <a:ea typeface="Arial"/>
                <a:cs typeface="Arial"/>
              </a:rPr>
              <a:t>5 хватов × 10 повторов × 3 визита.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496050" y="1343025"/>
          <a:ext xmlns:a="http://schemas.openxmlformats.org/drawingml/2006/main" cx="5067300" cy="38957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48050"/>
                <a:gridCol w="1619250"/>
              </a:tblGrid>
              <a:tr h="556532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Стенд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8533A"/>
                          </a:solidFill>
                          <a:latin typeface="Arial"/>
                          <a:ea typeface="Arial"/>
                          <a:cs typeface="Arial"/>
                        </a:rPr>
                        <a:t>Лимит, руб.</a:t>
                      </a:r>
                    </a:p>
                  </a:txBody>
                  <a:tcPr marL="133350" marR="114300" marT="95250" marB="95250">
                    <a:solidFill>
                      <a:srgbClr val="ECF1EB"/>
                    </a:solidFill>
                  </a:tcPr>
                </a:tc>
              </a:tr>
              <a:tr h="556532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Съём и электроды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47 000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556532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STM32 и интерфейсы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10 000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556532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Приводы и механика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65 000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556532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Питание и сборка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20 000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556532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Итерации и расходники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18 000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  <a:tr h="556532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Итого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32A25"/>
                          </a:solidFill>
                          <a:latin typeface="Arial"/>
                          <a:ea typeface="Arial"/>
                          <a:cs typeface="Arial"/>
                        </a:rPr>
                        <a:t>160 000</a:t>
                      </a:r>
                    </a:p>
                  </a:txBody>
                  <a:tcPr marL="133350" marR="11430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E8C1F5-51D2-448A-82F0-4B314946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3–6 месяцев. Сумма — распределение бюджета, цены ещё проверяются.</a:t>
            </a:r>
          </a:p>
          <a:p xmlns:a="http://schemas.openxmlformats.org/drawingml/2006/main">
            <a:pPr>
              <a:defRPr sz="1875" b="0">
                <a:solidFill>
                  <a:srgbClr val="59635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35B"/>
                </a:solidFill>
                <a:latin typeface="Arial"/>
                <a:ea typeface="Arial"/>
                <a:cs typeface="Arial"/>
              </a:rPr>
              <a:t>В комплекте: код, журнал эксперимента и покадровое демо.</a:t>
            </a:r>
          </a:p>
        </p:txBody>
      </p:sp>
    </p:spTree>
    <p:extLst>
      <p:ext uri="{BB962C8B-B14F-4D97-AF65-F5344CB8AC3E}">
        <p14:creationId xmlns:p14="http://schemas.microsoft.com/office/powerpoint/2010/main" val="1596236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2026-09-25T10:03:31.4790000Z</dcterms:created>
  <dcterms:modified xsi:type="dcterms:W3CDTF">2026-09-25T10:03:31.4790000Z</dcterms:modified>
</coreProperties>
</file>