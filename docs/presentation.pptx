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486eac71d74a81" /><Relationship Type="http://schemas.openxmlformats.org/officeDocument/2006/relationships/extended-properties" Target="/docProps/app.xml" Id="R03a17ab8547f48dc" /><Relationship Type="http://schemas.openxmlformats.org/officeDocument/2006/relationships/officeDocument" Target="/ppt/presentation.xml" Id="R3a1ebb2521aa4b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fdd201ff704365"/>
  </p:sldMasterIdLst>
  <p:notesMasterIdLst>
    <p:notesMasterId xmlns:r="http://schemas.openxmlformats.org/officeDocument/2006/relationships" r:id="Ra3a6f4d71ef440eb"/>
  </p:notesMasterIdLst>
  <p:sldIdLst>
    <p:sldId xmlns:r="http://schemas.openxmlformats.org/officeDocument/2006/relationships" id="256" r:id="Rba1fb74678734ffb"/>
    <p:sldId xmlns:r="http://schemas.openxmlformats.org/officeDocument/2006/relationships" id="257" r:id="Ra484f25ed4294b81"/>
    <p:sldId xmlns:r="http://schemas.openxmlformats.org/officeDocument/2006/relationships" id="258" r:id="Re11ee7c5bcca4c76"/>
    <p:sldId xmlns:r="http://schemas.openxmlformats.org/officeDocument/2006/relationships" id="259" r:id="R6af774eb01154b88"/>
    <p:sldId xmlns:r="http://schemas.openxmlformats.org/officeDocument/2006/relationships" id="260" r:id="Rb1af8218a8ec4c18"/>
    <p:sldId xmlns:r="http://schemas.openxmlformats.org/officeDocument/2006/relationships" id="261" r:id="R7be79585531149d6"/>
    <p:sldId xmlns:r="http://schemas.openxmlformats.org/officeDocument/2006/relationships" id="262" r:id="Rfeadd92420984a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19a56f3ce34359" /><Relationship Type="http://schemas.openxmlformats.org/officeDocument/2006/relationships/slideMaster" Target="/ppt/slideMasters/slideMaster1.xml" Id="R84fdd201ff704365" /><Relationship Type="http://schemas.openxmlformats.org/officeDocument/2006/relationships/notesMaster" Target="/ppt/notesMasters/notesMaster1.xml" Id="Ra3a6f4d71ef440eb" /><Relationship Type="http://schemas.openxmlformats.org/officeDocument/2006/relationships/presProps" Target="/ppt/presProps.xml" Id="Ree59b64f3058419b" /><Relationship Type="http://schemas.openxmlformats.org/officeDocument/2006/relationships/tableStyles" Target="/ppt/tableStyles.xml" Id="Rbe9ccd7e62c4441c" /><Relationship Type="http://schemas.openxmlformats.org/officeDocument/2006/relationships/slide" Target="/ppt/slides/slide1.xml" Id="Rba1fb74678734ffb" /><Relationship Type="http://schemas.openxmlformats.org/officeDocument/2006/relationships/slide" Target="/ppt/slides/slide2.xml" Id="Ra484f25ed4294b81" /><Relationship Type="http://schemas.openxmlformats.org/officeDocument/2006/relationships/slide" Target="/ppt/slides/slide3.xml" Id="Re11ee7c5bcca4c76" /><Relationship Type="http://schemas.openxmlformats.org/officeDocument/2006/relationships/slide" Target="/ppt/slides/slide4.xml" Id="R6af774eb01154b88" /><Relationship Type="http://schemas.openxmlformats.org/officeDocument/2006/relationships/slide" Target="/ppt/slides/slide5.xml" Id="Rb1af8218a8ec4c18" /><Relationship Type="http://schemas.openxmlformats.org/officeDocument/2006/relationships/slide" Target="/ppt/slides/slide6.xml" Id="R7be79585531149d6" /><Relationship Type="http://schemas.openxmlformats.org/officeDocument/2006/relationships/slide" Target="/ppt/slides/slide7.xml" Id="Rfeadd92420984a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2903b493824d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aa9378817e45ab" /><Relationship Type="http://schemas.openxmlformats.org/officeDocument/2006/relationships/notesMaster" Target="/ppt/notesMasters/notesMaster1.xml" Id="Rd8a4937b7d6f4a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2cdba2ed4c4472" /><Relationship Type="http://schemas.openxmlformats.org/officeDocument/2006/relationships/notesMaster" Target="/ppt/notesMasters/notesMaster1.xml" Id="R10aad34245cf48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9d210ad2994c87" /><Relationship Type="http://schemas.openxmlformats.org/officeDocument/2006/relationships/notesMaster" Target="/ppt/notesMasters/notesMaster1.xml" Id="Rcef6c19ba5fc4c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fdb60c60284fef" /><Relationship Type="http://schemas.openxmlformats.org/officeDocument/2006/relationships/notesMaster" Target="/ppt/notesMasters/notesMaster1.xml" Id="R091c60567a7a42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3fdc664ac34de4" /><Relationship Type="http://schemas.openxmlformats.org/officeDocument/2006/relationships/notesMaster" Target="/ppt/notesMasters/notesMaster1.xml" Id="Rffe7a329fae242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e748378534c25" /><Relationship Type="http://schemas.openxmlformats.org/officeDocument/2006/relationships/notesMaster" Target="/ppt/notesMasters/notesMaster1.xml" Id="R89c3ef49d7aa40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f43bc26d864bf4" /><Relationship Type="http://schemas.openxmlformats.org/officeDocument/2006/relationships/notesMaster" Target="/ppt/notesMasters/notesMaster1.xml" Id="Rb26eeafd942647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Проверяется компромисс ошибок, отказов и задержки. Это программный прототип; кисть не подключена. Ограничение полной реакции 100 мс пока не подтверждено.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данных: https://ninapro.hevs.ch/instructions/DB2.html ; таблица движений: https://ninapro.hevs.ch/figures/SData_Movements.png . Первые восемь каналов. Все участники без ампутации. На каждого приходится 30 выбранных фрагментов: пять движений по шесть повторов. Включено до 0,5 с соседнего покоя.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Реализован участок от цифрового сигнала до команды. Фильтр 20–450 Гц и notch 50 Гц, только прошлые отсчёты. RMS, MAV, WL, ZC, SSC. В SVM — логарифмирование, окно 100 мс; LDA — исходные признаки, окно 150 мс. Оценки калибруются внутри train по повторам. Покой не означает раскрытие кисти.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Протокол и конфигурации: коммит fe22ce7, docs/protocol-v2.md. Выбирается macro-F1 на валидации S1. Окна 50,75,100,150 мс; td/log_td; LDA и SVM C=1/10. Сравнение старой и новой версии на совпадающих временных точках: results/study/paired_comparison.json. Вклад отдельных правок не изолирован.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S2 выбраны три подтверждения без порога. S3: threshold=0.5, margin=0.15, confirmations=2. Валидационное покрытие S3 70,6%, тестовое 67,5%. Числа пересчитаны после исправления подтверждения (A, A, B, A, B больше не принимает последний B). На обоих участниках получена правильная команда в каждом из десяти движений, но ранний правильный кадр не равен устойчивому управлению. Ошибочное переключение — смена принятого класса на неверный.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Отсчёт по restimulus, не по независимому измерению сокращения. Нулевая медиана первого ответа S2 не является мгновенной физической реакцией. Сбор информативного участка 40 + шаг10 + задержка тракта5 + признаки1 + модель3 + подтверждение10 + связь3 + движение20 =92 мс. Это лимиты проектирования, не измеренные показатели и не доказательство достижимости: бюджет предполагает, что окна 40 мс хватит, а эксперимент этого не показал. Вычисления измерены в облачной среде Linux; на Mac до исправления — 1,16 и 1,29 мс. Выбранные окна 100/150 мс не подтверждают выполнение ТЗ. Подробнее: отчёт, страницы 5–6.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Съём ADS1298, вычислитель STM32H743: https://www.ti.com/product/ADS1298 ; https://www.st.com/en/microcontrollers-microprocessors/stm32h743-753.html . Резерв до 200000 руб. —40000. Нужна лаборатория; зарплата и клинические испытания не включены. docs/demo.html воспроизводит сохранённые результаты; не запускает модель и не управляет кистью. Само отклонение решений не заявляется новой идеей: https://arxiv.org/abs/2409.14169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0173730204c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7f906d099d4210" /><Relationship Type="http://schemas.openxmlformats.org/officeDocument/2006/relationships/slideLayout" Target="/ppt/slideLayouts/slideLayout1.xml" Id="Re32a0fd918524c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2a0fd918524c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70f0f92874796" /><Relationship Type="http://schemas.openxmlformats.org/officeDocument/2006/relationships/notesSlide" Target="/ppt/notesSlides/notesSlide1.xml" Id="R109e0612edb64d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20c04c7c84d3a" /><Relationship Type="http://schemas.openxmlformats.org/officeDocument/2006/relationships/notesSlide" Target="/ppt/notesSlides/notesSlide2.xml" Id="Rb5bcb782d62042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2a6f69fe74f85" /><Relationship Type="http://schemas.openxmlformats.org/officeDocument/2006/relationships/notesSlide" Target="/ppt/notesSlides/notesSlide3.xml" Id="R8cad2d4fd2f744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d5953715f4f63" /><Relationship Type="http://schemas.openxmlformats.org/officeDocument/2006/relationships/notesSlide" Target="/ppt/notesSlides/notesSlide4.xml" Id="R71b0232fc87544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571c7fe8b4308" /><Relationship Type="http://schemas.openxmlformats.org/officeDocument/2006/relationships/notesSlide" Target="/ppt/notesSlides/notesSlide5.xml" Id="R257a5a915cf945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c276f802640d4" /><Relationship Type="http://schemas.openxmlformats.org/officeDocument/2006/relationships/notesSlide" Target="/ppt/notesSlides/notesSlide6.xml" Id="R3e59703f67304e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6ee40e3ec4a7c" /><Relationship Type="http://schemas.openxmlformats.org/officeDocument/2006/relationships/notesSlide" Target="/ppt/notesSlides/notesSlide7.xml" Id="Rb7942093750344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92C3E-7B5E-4E59-936F-74EACBB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Уверенный хват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D6E9E-A41A-44C5-808F-16EAA7E0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6FE3A-2C8C-4182-ACF3-F46B432B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Как не менять хват</a:t>
            </a:r>
          </a:p>
          <a:p xmlns:a="http://schemas.openxmlformats.org/drawingml/2006/main">
            <a:pPr>
              <a:defRPr sz="3525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из-за сомнительной команды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F7EDB-7104-4283-93B8-85272573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Пять хватов и покой по поверхностной ЭМГ.</a:t>
            </a:r>
          </a:p>
          <a:p xmlns:a="http://schemas.openxmlformats.org/drawingml/2006/main">
            <a:pPr>
              <a:defRPr sz="225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Программный прототип и проверка на новых записях.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725A8-FCEF-482A-818A-A888D86F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SK Challenge 2026 · студенческий кейс СТЕПЛАЙФ</a:t>
            </a:r>
          </a:p>
          <a:p xmlns:a="http://schemas.openxmlformats.org/drawingml/2006/main">
            <a:pPr>
              <a:defRPr sz="180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25 сентября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2091103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6B22CE-03B2-4FBD-867F-4FBA74BE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Что считываем и как проверяем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90D25-105E-4030-9922-A465BCF8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57DD1-65C7-48FF-B525-94BC2928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8 каналов предплечья · 2 кГц</a:t>
            </a:r>
          </a:p>
          <a:p xmlns:a="http://schemas.openxmlformats.org/drawingml/2006/main">
            <a:pPr>
              <a:defRPr sz="2400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NinaPro DB2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BA4C4-4025-4264-8993-510C18A2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50958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S1 — выбор признаков и окна.</a:t>
            </a:r>
          </a:p>
          <a:p xmlns:a="http://schemas.openxmlformats.org/drawingml/2006/main">
            <a:pPr>
              <a:defRPr sz="21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S2 и S3 — новые участники</a:t>
            </a:r>
          </a:p>
          <a:p xmlns:a="http://schemas.openxmlformats.org/drawingml/2006/main">
            <a:pPr>
              <a:defRPr sz="21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для проверки процедуры.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B0951-6D4B-49D9-81F9-A95BA0B8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1911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У каждого своя настройка: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train 1, 3, 4 · validation 2 · test 5, 6.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Это не перенос модели между людьми.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191250" y="1343025"/>
          <a:ext xmlns:a="http://schemas.openxmlformats.org/drawingml/2006/main" cx="5381625" cy="4352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1857375"/>
              </a:tblGrid>
              <a:tr h="62184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Хват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Метка DB2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Цилиндрический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Точный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Боковой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34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Крюк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Сферический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27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Покой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404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85425A-8E3E-4298-A0CB-C6D01C58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Обработка и проверка команды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BDFFDE-6155-40AA-B0F4-4E31BE6C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7B61D-52C0-44DE-8A69-7EA22348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756F6-A8CE-4E8E-A82F-3C6F0690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Электроды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C75B4-296E-458E-87D6-E6C24BAC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90C84-4FB0-44EF-9816-C7B719E7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DC3D1-46D7-4884-850D-EC306182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Усилитель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и АЦП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0787D-3CE2-4F67-AF5F-B785B04B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8F075-935A-42AA-88EB-4C4093B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35688-9D1D-4F81-B0AE-1B02DEEA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Причинный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фильтр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E8ED5-CE61-48A0-8EC5-B9C8CF82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10F0E-B8EE-4F01-AC7E-E335FF09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2BF249-85C1-4200-8D0A-7D003310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Окно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100/150 мс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5875E-AA3E-4DA5-BB85-1F2065FB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BA727-CFA1-4FB8-9BD8-0AE93001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3E688-5E9C-437F-A1DF-BDFEB608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Признаки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40 значений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DE6B17-272B-4DAB-BF3E-EC9616A8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03775-A298-4D6F-9E84-FBD8038B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Начало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движения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328DD9-33CC-434D-AAFD-AD81BC33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28450A-8522-4B06-8458-396A8436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ADBEF5-0745-4232-8154-AABF7AFB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Контроллер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привода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BABB09-3632-4698-A6CB-4AC1F0A5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6729B-21C3-44D1-9194-BBB94B2A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7EF28E-1B22-4A21-B91F-ED41D560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Связь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5995BA-8593-4E34-B8B0-316DAC0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6CC8C7-FF96-4636-B147-28B7BCB1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EB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C7B793-D521-4948-B3D9-2ED744F4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Проверка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команды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14D036-FF08-4BFB-85CA-F7C7F2B1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B2FCC3-B1BF-47EA-BE85-E4FDDC2A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1E932E-1EAE-48AC-BA27-C0DB75ED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LDA / SVM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AC8DD4-7525-42DF-BFBC-54602560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2419350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CD19A3-B9D7-472E-ACAE-8734AA11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Оценка модели + разница двух лучших оценок + подтверждение.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Плохой сигнал или отказ → запрет движения.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DD9906-01EB-4898-96DC-77E66FF3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Проверка не исправляет уверенный неправильный ответ.</a:t>
            </a:r>
          </a:p>
          <a:p xmlns:a="http://schemas.openxmlformats.org/drawingml/2006/main">
            <a:pPr>
              <a:defRPr sz="172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На приводе нужен независимый таймер отсутствия команд.</a:t>
            </a:r>
          </a:p>
        </p:txBody>
      </p:sp>
    </p:spTree>
    <p:extLst>
      <p:ext uri="{BB962C8B-B14F-4D97-AF65-F5344CB8AC3E}">
        <p14:creationId xmlns:p14="http://schemas.microsoft.com/office/powerpoint/2010/main" val="11837341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D34913-950A-483C-9808-1A0DE8D7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Две модели, два новых участника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62354-2FA7-4A5F-BAD1-9C177252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143375"/>
                <a:gridCol w="4143375"/>
              </a:tblGrid>
              <a:tr h="7588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Модель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S2: точность / F1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S3: точность / F1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7588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LDA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57,4% / 0.534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47,7% / 0.451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7588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SVM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65,2% / 0.602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57,7% / 0.541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09E43-2108-441C-B386-2EEDAB50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 S1 сравнены 24 конфигурации. Выбор закреплён до теста.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LDA: обычные признаки, 150 мс. SVM: логарифмы, 100 мс.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0E966-F35A-4935-976E-0E742B2B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SVM на одинаковых временных точках, старая → новая версия:</a:t>
            </a:r>
          </a:p>
          <a:p xmlns:a="http://schemas.openxmlformats.org/drawingml/2006/main">
            <a:pPr>
              <a:defRPr sz="2025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S2: 61,7 → 65,2%     S3: 52,0 → 57,7%</a:t>
            </a:r>
          </a:p>
        </p:txBody>
      </p:sp>
    </p:spTree>
    <p:extLst>
      <p:ext uri="{BB962C8B-B14F-4D97-AF65-F5344CB8AC3E}">
        <p14:creationId xmlns:p14="http://schemas.microsoft.com/office/powerpoint/2010/main" val="582443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AEB53-938A-4121-969E-A9DF4BEC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Меньше переключений — какой ценой?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6F277-EB06-4350-A110-55A38800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5375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286500"/>
                <a:gridCol w="2333625"/>
                <a:gridCol w="2333625"/>
              </a:tblGrid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SVM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S2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S3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Ошибочные переключения/мин: до → после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482 → 159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546 → 167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Принято после проверки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85,0%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67,5%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Ошибки среди принятых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28,8%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31,9%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Полнота распознавания покоя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15,9%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70684-11AD-4590-9214-E5B4F975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Режим выбирался при ≥70% принятых окон на валидации.</a:t>
            </a:r>
          </a:p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 тесте S3 покрытие упало ниже этого ограничения.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352727-A2ED-4365-8F02-C5548CC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122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Слабое место — распознавание покоя. Для настоящей кисти ошибок слишком много.</a:t>
            </a:r>
          </a:p>
        </p:txBody>
      </p:sp>
    </p:spTree>
    <p:extLst>
      <p:ext uri="{BB962C8B-B14F-4D97-AF65-F5344CB8AC3E}">
        <p14:creationId xmlns:p14="http://schemas.microsoft.com/office/powerpoint/2010/main" val="17062269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D4130-D88B-439C-B4E5-2D134CC3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Вычисления быстрые. Ответ пока нестабилен.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9984DC-88A0-4CC3-945B-04DC916B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362075"/>
          <a:ext xmlns:a="http://schemas.openxmlformats.org/drawingml/2006/main" cx="10953750" cy="2686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286500"/>
                <a:gridCol w="2333625"/>
                <a:gridCol w="2333625"/>
              </a:tblGrid>
              <a:tr h="671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SVM после проверки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S2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S3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Вычислительная итерация, p95 (облако)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4,70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2,88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Первая правильная команда за 100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 из 10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 из 10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Медиана устойчивого ответа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380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980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2D330-2C9D-4601-A659-0E419D56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5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Устойчивый ответ: закончились 100 мс подряд правильных команд.</a:t>
            </a:r>
          </a:p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Полная задержка до движения кисти не измерена.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6139B-D7AC-4AE7-B7EC-14B87F93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Для следующего стенда: проектный бюджет 92 мс + 8 мс резерва.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Это цель, а не доказательство: окно 40 мс ещё не проверено.</a:t>
            </a:r>
          </a:p>
        </p:txBody>
      </p:sp>
    </p:spTree>
    <p:extLst>
      <p:ext uri="{BB962C8B-B14F-4D97-AF65-F5344CB8AC3E}">
        <p14:creationId xmlns:p14="http://schemas.microsoft.com/office/powerpoint/2010/main" val="187764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311E3-5642-4C1C-A5B0-47BC8541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Что нужно для аппаратной версии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4D6F16-A3D1-40AA-A55E-838468A7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C7EA3-7AF1-404D-AFCB-B00EA9FE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5524500" cy="355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Сначала: покой и короткие окна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 новом отложенном тесте.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Затем: съём, калибровка, плата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и проверка с приводом.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План данных: 8–12 пользователей,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5 хватов × 10 повторов × 3 визита.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496050" y="1343025"/>
          <a:ext xmlns:a="http://schemas.openxmlformats.org/drawingml/2006/main" cx="5067300" cy="3895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48050"/>
                <a:gridCol w="1619250"/>
              </a:tblGrid>
              <a:tr h="556532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Стенд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Лимит, руб.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Съём и электроды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47 000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STM32 и интерфейсы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10 000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Приводы и механика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65 000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Питание и сборка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20 000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Итерации и расходники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18 000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Итого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160 000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8C1F5-51D2-448A-82F0-4B314946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3–6 месяцев. Сумма — распределение бюджета, цены ещё проверяются.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В комплекте: код, журнал эксперимента и покадровое демо.</a:t>
            </a:r>
          </a:p>
        </p:txBody>
      </p:sp>
    </p:spTree>
    <p:extLst>
      <p:ext uri="{BB962C8B-B14F-4D97-AF65-F5344CB8AC3E}">
        <p14:creationId xmlns:p14="http://schemas.microsoft.com/office/powerpoint/2010/main" val="1596236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2026-09-25T10:03:31.4790000Z</dcterms:created>
  <dcterms:modified xsi:type="dcterms:W3CDTF">2026-09-25T10:03:31.4790000Z</dcterms:modified>
</coreProperties>
</file>